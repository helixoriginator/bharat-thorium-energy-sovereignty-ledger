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D4AF37"/>
                </a:solidFill>
              </a:rPr>
              <a:t>BHARAT THORIUM ENERGY LEDGER (BTEL)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DCDCDC"/>
                </a:solidFill>
              </a:rPr>
              <a:t>A Citizen-Built Infrastructure for Intellectual Atmanirbharta</a:t>
            </a:r>
          </a:p>
          <a:p>
            <a:pPr/>
            <a:r>
              <a:rPr sz="1800">
                <a:solidFill>
                  <a:srgbClr val="DCDCDC"/>
                </a:solidFill>
              </a:rPr>
              <a:t>Strategic Framework for Viksit Bharat 2047</a:t>
            </a:r>
          </a:p>
          <a:p>
            <a:pPr/>
            <a:r>
              <a:rPr sz="1800">
                <a:solidFill>
                  <a:srgbClr val="DCDCDC"/>
                </a:solidFill>
              </a:rPr>
              <a:t>Energy Independence through Thorium Utilization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D4AF37"/>
                </a:solidFill>
              </a:rPr>
              <a:t>The Oil Dependency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DCDCDC"/>
                </a:solidFill>
              </a:rPr>
              <a:t>India imports ~85% of crude oil requirements</a:t>
            </a:r>
          </a:p>
          <a:p>
            <a:pPr/>
            <a:r>
              <a:rPr sz="1800">
                <a:solidFill>
                  <a:srgbClr val="DCDCDC"/>
                </a:solidFill>
              </a:rPr>
              <a:t>High exposure to global price shocks</a:t>
            </a:r>
          </a:p>
          <a:p>
            <a:pPr/>
            <a:r>
              <a:rPr sz="1800">
                <a:solidFill>
                  <a:srgbClr val="DCDCDC"/>
                </a:solidFill>
              </a:rPr>
              <a:t>Petrol and diesel volatility impacts economy at scale</a:t>
            </a:r>
          </a:p>
          <a:p>
            <a:pPr/>
            <a:r>
              <a:rPr sz="1800">
                <a:solidFill>
                  <a:srgbClr val="DCDCDC"/>
                </a:solidFill>
              </a:rPr>
              <a:t>Strategic vulnerability in geopolitical crises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D4AF37"/>
                </a:solidFill>
              </a:rPr>
              <a:t>Thorium as a Strategic Alternative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DCDCDC"/>
                </a:solidFill>
              </a:rPr>
              <a:t>India holds one of the world’s largest thorium reserves</a:t>
            </a:r>
          </a:p>
          <a:p>
            <a:pPr/>
            <a:r>
              <a:rPr sz="1800">
                <a:solidFill>
                  <a:srgbClr val="DCDCDC"/>
                </a:solidFill>
              </a:rPr>
              <a:t>Thorium-based SMRs provide continuous baseload energy</a:t>
            </a:r>
          </a:p>
          <a:p>
            <a:pPr/>
            <a:r>
              <a:rPr sz="1800">
                <a:solidFill>
                  <a:srgbClr val="DCDCDC"/>
                </a:solidFill>
              </a:rPr>
              <a:t>Domestic fuel cycle reduces import dependency</a:t>
            </a:r>
          </a:p>
          <a:p>
            <a:pPr/>
            <a:r>
              <a:rPr sz="1800">
                <a:solidFill>
                  <a:srgbClr val="DCDCDC"/>
                </a:solidFill>
              </a:rPr>
              <a:t>Foundation for a Sovereign Energy Moat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D4AF37"/>
                </a:solidFill>
              </a:rPr>
              <a:t>Replacing Oil Through Electrification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DCDCDC"/>
                </a:solidFill>
              </a:rPr>
              <a:t>Thorium electricity enables EV ecosystems at scale</a:t>
            </a:r>
          </a:p>
          <a:p>
            <a:pPr/>
            <a:r>
              <a:rPr sz="1800">
                <a:solidFill>
                  <a:srgbClr val="DCDCDC"/>
                </a:solidFill>
              </a:rPr>
              <a:t>Reduces petrol and diesel demand structurally</a:t>
            </a:r>
          </a:p>
          <a:p>
            <a:pPr/>
            <a:r>
              <a:rPr sz="1800">
                <a:solidFill>
                  <a:srgbClr val="DCDCDC"/>
                </a:solidFill>
              </a:rPr>
              <a:t>Supports rail, logistics, and industrial electrification</a:t>
            </a:r>
          </a:p>
          <a:p>
            <a:pPr/>
            <a:r>
              <a:rPr sz="1800">
                <a:solidFill>
                  <a:srgbClr val="DCDCDC"/>
                </a:solidFill>
              </a:rPr>
              <a:t>Long-term reduction in crude oil imports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D4AF37"/>
                </a:solidFill>
              </a:rPr>
              <a:t>Green Hydrogen Disruption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DCDCDC"/>
                </a:solidFill>
              </a:rPr>
              <a:t>High-Temperature Electrolysis powered by thorium</a:t>
            </a:r>
          </a:p>
          <a:p>
            <a:pPr/>
            <a:r>
              <a:rPr sz="1800">
                <a:solidFill>
                  <a:srgbClr val="DCDCDC"/>
                </a:solidFill>
              </a:rPr>
              <a:t>Hydrogen as substitute for diesel in heavy industry</a:t>
            </a:r>
          </a:p>
          <a:p>
            <a:pPr/>
            <a:r>
              <a:rPr sz="1800">
                <a:solidFill>
                  <a:srgbClr val="DCDCDC"/>
                </a:solidFill>
              </a:rPr>
              <a:t>Hydrogen fuel for transport, shipping, and steel</a:t>
            </a:r>
          </a:p>
          <a:p>
            <a:pPr/>
            <a:r>
              <a:rPr sz="1800">
                <a:solidFill>
                  <a:srgbClr val="DCDCDC"/>
                </a:solidFill>
              </a:rPr>
              <a:t>~40% cost reduction vs solar hydrogen pathways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D4AF37"/>
                </a:solidFill>
              </a:rPr>
              <a:t>Industrial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DCDCDC"/>
                </a:solidFill>
              </a:rPr>
              <a:t>24/7 energy enables precision manufacturing</a:t>
            </a:r>
          </a:p>
          <a:p>
            <a:pPr/>
            <a:r>
              <a:rPr sz="1800">
                <a:solidFill>
                  <a:srgbClr val="DCDCDC"/>
                </a:solidFill>
              </a:rPr>
              <a:t>Supports desalination and chemical industries</a:t>
            </a:r>
          </a:p>
          <a:p>
            <a:pPr/>
            <a:r>
              <a:rPr sz="1800">
                <a:solidFill>
                  <a:srgbClr val="DCDCDC"/>
                </a:solidFill>
              </a:rPr>
              <a:t>Enables localized SME growth clusters</a:t>
            </a:r>
          </a:p>
          <a:p>
            <a:pPr/>
            <a:r>
              <a:rPr sz="1800">
                <a:solidFill>
                  <a:srgbClr val="DCDCDC"/>
                </a:solidFill>
              </a:rPr>
              <a:t>Creates energy-backed industrial sovereignty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D4AF37"/>
                </a:solidFill>
              </a:rPr>
              <a:t>Geospatial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DCDCDC"/>
                </a:solidFill>
              </a:rPr>
              <a:t>Thorium belts: Kerala, Odisha, Andhra Pradesh, Tamil Nadu</a:t>
            </a:r>
          </a:p>
          <a:p>
            <a:pPr/>
            <a:r>
              <a:rPr sz="1800">
                <a:solidFill>
                  <a:srgbClr val="DCDCDC"/>
                </a:solidFill>
              </a:rPr>
              <a:t>Co-located SMRs reduce transmission losses</a:t>
            </a:r>
          </a:p>
          <a:p>
            <a:pPr/>
            <a:r>
              <a:rPr sz="1800">
                <a:solidFill>
                  <a:srgbClr val="DCDCDC"/>
                </a:solidFill>
              </a:rPr>
              <a:t>Aligns resource with energy demand zones</a:t>
            </a:r>
          </a:p>
          <a:p>
            <a:pPr/>
            <a:r>
              <a:rPr sz="1800">
                <a:solidFill>
                  <a:srgbClr val="DCDCDC"/>
                </a:solidFill>
              </a:rPr>
              <a:t>Transforms regional deficits into surplus hubs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D4AF37"/>
                </a:solidFill>
              </a:rPr>
              <a:t>National Exigency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DCDCDC"/>
                </a:solidFill>
              </a:rPr>
              <a:t>100% Fuel Independence Logic</a:t>
            </a:r>
          </a:p>
          <a:p>
            <a:pPr/>
            <a:r>
              <a:rPr sz="1800">
                <a:solidFill>
                  <a:srgbClr val="DCDCDC"/>
                </a:solidFill>
              </a:rPr>
              <a:t>Domestic energy replaces imported hydrocarbons</a:t>
            </a:r>
          </a:p>
          <a:p>
            <a:pPr/>
            <a:r>
              <a:rPr sz="1800">
                <a:solidFill>
                  <a:srgbClr val="DCDCDC"/>
                </a:solidFill>
              </a:rPr>
              <a:t>Hydrogen + Electrification reduces oil reliance</a:t>
            </a:r>
          </a:p>
          <a:p>
            <a:pPr/>
            <a:r>
              <a:rPr sz="1800">
                <a:solidFill>
                  <a:srgbClr val="DCDCDC"/>
                </a:solidFill>
              </a:rPr>
              <a:t>Strategic resilience during global crises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D4AF37"/>
                </a:solidFill>
              </a:rPr>
              <a:t>Nano Banana IP Shield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DCDCDC"/>
                </a:solidFill>
              </a:rPr>
              <a:t>Defensive publication strategy</a:t>
            </a:r>
          </a:p>
          <a:p>
            <a:pPr/>
            <a:r>
              <a:rPr sz="1800">
                <a:solidFill>
                  <a:srgbClr val="DCDCDC"/>
                </a:solidFill>
              </a:rPr>
              <a:t>Prevents foreign patent monopolization</a:t>
            </a:r>
          </a:p>
          <a:p>
            <a:pPr/>
            <a:r>
              <a:rPr sz="1800">
                <a:solidFill>
                  <a:srgbClr val="DCDCDC"/>
                </a:solidFill>
              </a:rPr>
              <a:t>Zero-cost intellectual property protection</a:t>
            </a:r>
          </a:p>
          <a:p>
            <a:pPr/>
            <a:r>
              <a:rPr sz="1800">
                <a:solidFill>
                  <a:srgbClr val="DCDCDC"/>
                </a:solidFill>
              </a:rPr>
              <a:t>Strengthens India's Intellectual Sovereignty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D4AF37"/>
                </a:solidFill>
              </a:rPr>
              <a:t>Strategic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DCDCDC"/>
                </a:solidFill>
              </a:rPr>
              <a:t>Reduced dependence on petrol, diesel, and crude oil</a:t>
            </a:r>
          </a:p>
          <a:p>
            <a:pPr/>
            <a:r>
              <a:rPr sz="1800">
                <a:solidFill>
                  <a:srgbClr val="DCDCDC"/>
                </a:solidFill>
              </a:rPr>
              <a:t>Energy cost stability for national growth</a:t>
            </a:r>
          </a:p>
          <a:p>
            <a:pPr/>
            <a:r>
              <a:rPr sz="1800">
                <a:solidFill>
                  <a:srgbClr val="DCDCDC"/>
                </a:solidFill>
              </a:rPr>
              <a:t>Industrial acceleration through reliable energy</a:t>
            </a:r>
          </a:p>
          <a:p>
            <a:pPr/>
            <a:r>
              <a:rPr sz="1800">
                <a:solidFill>
                  <a:srgbClr val="DCDCDC"/>
                </a:solidFill>
              </a:rPr>
              <a:t>Positioning India as a global energy leader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D4AF37"/>
                </a:solidFill>
              </a:rPr>
              <a:t>Access Full Blueprint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DCDCDC"/>
                </a:solidFill>
              </a:rPr>
              <a:t>https://opal.google/app/1Ms-1bHVXqp99u4B_uH7ejvWEa0ZXDk71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D4AF37"/>
                </a:solidFill>
              </a:rPr>
              <a:t>Author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DCDCDC"/>
                </a:solidFill>
              </a:rPr>
              <a:t>Kallol Chakrabarti</a:t>
            </a:r>
          </a:p>
          <a:p>
            <a:pPr/>
            <a:r>
              <a:rPr sz="1800">
                <a:solidFill>
                  <a:srgbClr val="DCDCDC"/>
                </a:solidFill>
              </a:rPr>
              <a:t>Global Independent Researcher</a:t>
            </a:r>
          </a:p>
          <a:p>
            <a:pPr/>
            <a:r>
              <a:rPr sz="1800">
                <a:solidFill>
                  <a:srgbClr val="DCDCDC"/>
                </a:solidFill>
              </a:rPr>
              <a:t>Viksit Bharat 2047 | Intellectual Sovereignty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